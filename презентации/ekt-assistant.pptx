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для кейса ТОО «Электрокомплект». Витрина и чат работают на одном источнике каталога.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B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6675120" y="-1463040"/>
            <a:ext cx="7680960" cy="7680960"/>
          </a:xfrm>
          <a:prstGeom prst="roundRect">
            <a:avLst>
              <a:gd name="adj" fmla="val 714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412480" y="1280160"/>
            <a:ext cx="4754880" cy="4754880"/>
          </a:xfrm>
          <a:prstGeom prst="roundRect">
            <a:avLst>
              <a:gd name="adj" fmla="val 1154"/>
            </a:avLst>
          </a:prstGeom>
          <a:solidFill>
            <a:srgbClr val="148B9D"/>
          </a:solidFill>
          <a:ln w="12700">
            <a:solidFill>
              <a:srgbClr val="148B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640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ЭЛЕКТРОКОМПЛЕКТ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9601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Электротехника для ваших проектов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ИИ-ассистент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71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7F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сайта ekt.kz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спрашивает в чате и получает проверенный ответ: характеристики,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цену, остаток, аналог и собранную корзину — без звонка менеджеру.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5440680"/>
            <a:ext cx="4343400" cy="658368"/>
          </a:xfrm>
          <a:prstGeom prst="roundRect">
            <a:avLst>
              <a:gd name="adj" fmla="val 22222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5596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Hahathon Devs  ·  HACKALEM AI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КЕЙСА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простой вопрос стоит звонка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6888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243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уходит менеджеру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886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Характеристики, сертификат, остаток и условия оплаты клиент не может проверить сам — он пишет или звонит.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46888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6243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 покупке тормозит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886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идёт переписка, клиент сравнивает цены у конкурентов. Часть заявок не возвращается.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2440" y="214884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46888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6243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Менеджеры заняты рутиной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886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 и те же вопросы вместо крупных сделок и сложных подборов по спецификации.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5800" y="5230368"/>
            <a:ext cx="10789920" cy="786384"/>
          </a:xfrm>
          <a:prstGeom prst="roundRect">
            <a:avLst>
              <a:gd name="adj" fmla="val 15116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86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546811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такой вопрос — это данные, которые уже есть в каталоге. Их достаточно, чтобы ответить сразу.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 помощник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одних данных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9572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чат и проверка корзины читают один источник. Ответ в чате и карточка товара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могут разойтись в цене или остатке.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331012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34427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артикулу, названию и параметрам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4096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4229100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53312" y="4187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и остаток берутся из каталога, а не из модели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85800" y="488289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501548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53312" y="4974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меняется только после подтверждения клиента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903720" y="1234440"/>
            <a:ext cx="4572000" cy="4983480"/>
          </a:xfrm>
          <a:prstGeom prst="roundRect">
            <a:avLst>
              <a:gd name="adj" fmla="val 2800"/>
            </a:avLst>
          </a:prstGeom>
          <a:solidFill>
            <a:srgbClr val="F8FBFE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330200" dist="101600" dir="5400000">
              <a:srgbClr val="1C4975">
                <a:alpha val="13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223760" y="15361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8B9D"/>
          </a:solidFill>
          <a:ln w="12700">
            <a:solidFill>
              <a:srgbClr val="148B9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165506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99832" y="1572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ЭКТ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799832" y="17922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данным каталога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8229600" y="2240280"/>
            <a:ext cx="2971800" cy="566928"/>
          </a:xfrm>
          <a:prstGeom prst="roundRect">
            <a:avLst>
              <a:gd name="adj" fmla="val 19355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36676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990100001_? Какие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характеристики?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178040" y="301752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36092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778636 АВ ВА47-29 1P 10А C 4,5кА IEK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3675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372600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1 350 ₸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3986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372600" y="3986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шт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360920" y="4297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Номинальный ток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3726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А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360920" y="46085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Полюсов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372600" y="4608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36092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372600" y="4919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7360920" y="5230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Отключающая способность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372600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 кА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360920" y="5532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карточка каталога ЭКТ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закрывает помощник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832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26771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048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8408" y="290779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 артикулу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331012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Характеристики, цена, остаток по складам. Сертификат показывается, если он есть в источнике.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3832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26771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4048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1728" y="290779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 при нулевом остатке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81728" y="331012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 ключевым параметрам и объяснение, чем кандидат отличается от исходной позиции.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2011680"/>
            <a:ext cx="33832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226771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048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290779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покупки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331012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Оплата, доставка, самовывоз, минимальная партия, рассрочка и возврат со ссылками на источник.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5800" y="4160520"/>
            <a:ext cx="33832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8408" y="44165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55371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8408" y="505663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по подтверждению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78408" y="54589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показывается отдельно. Без явного согласия состав корзины не меняется.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160520"/>
            <a:ext cx="33832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81728" y="44165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55371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81728" y="505663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вложений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81728" y="54589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Word, PDF, CSV и фото: помощник читает спецификацию и ищет позиции по списку.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4160520"/>
            <a:ext cx="33832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5048" y="44165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553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85048" y="505663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казахский, английский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85048" y="54589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определяется по сообщению. Условия покупки переведены и сверены с источником.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B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509760" y="-1097280"/>
            <a:ext cx="5669280" cy="5669280"/>
          </a:xfrm>
          <a:prstGeom prst="roundRect">
            <a:avLst>
              <a:gd name="adj" fmla="val 968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F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 ОТВЕТ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3268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выбирает, сервер отвечает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Языковая модель определяет намерение и указывает, какие позиции показать. Сами факты —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цену, остаток, характеристики и ссылки — подставляет сервер из каталога.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2395728" cy="2057400"/>
          </a:xfrm>
          <a:prstGeom prst="roundRect">
            <a:avLst>
              <a:gd name="adj" fmla="val 5778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318211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33101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4183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4114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вложение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карточка товара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3858768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29000" y="2926080"/>
            <a:ext cx="2395728" cy="2057400"/>
          </a:xfrm>
          <a:prstGeom prst="roundRect">
            <a:avLst>
              <a:gd name="adj" fmla="val 5778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85032" y="318211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33101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8503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685032" y="4114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Намерение, позиции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уточняющие запросы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3858768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72200" y="2926080"/>
            <a:ext cx="2395728" cy="2057400"/>
          </a:xfrm>
          <a:prstGeom prst="roundRect">
            <a:avLst>
              <a:gd name="adj" fmla="val 5778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28232" y="318211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31012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2823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6428232" y="4114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знания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покупке, остатки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3858768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915400" y="2926080"/>
            <a:ext cx="2395728" cy="2057400"/>
          </a:xfrm>
          <a:prstGeom prst="roundRect">
            <a:avLst>
              <a:gd name="adj" fmla="val 5778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171432" y="318211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331012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17143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9171432" y="4114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проверенные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источники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685800" y="5349240"/>
            <a:ext cx="10789920" cy="749808"/>
          </a:xfrm>
          <a:prstGeom prst="roundRect">
            <a:avLst>
              <a:gd name="adj" fmla="val 15854"/>
            </a:avLst>
          </a:prstGeom>
          <a:solidFill>
            <a:srgbClr val="0B3059"/>
          </a:solidFill>
          <a:ln w="12700">
            <a:solidFill>
              <a:srgbClr val="2E5D9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57784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89888" y="55412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называет цену и остаток, не выдаёт ссылки и не подтверждает корзину — эти права отобраны на уровне кода.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ЗАМЕНЫ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 с объяснением, а не наугад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657600" cy="2240280"/>
          </a:xfrm>
          <a:prstGeom prst="roundRect">
            <a:avLst>
              <a:gd name="adj" fmla="val 5306"/>
            </a:avLst>
          </a:prstGeom>
          <a:solidFill>
            <a:srgbClr val="FDF3F2"/>
          </a:solidFill>
          <a:ln w="12700">
            <a:solidFill>
              <a:srgbClr val="F0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67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B3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КЛИЕНТА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237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990100004_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 ВА47-29 1P 32А C 4,5кА IEK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364992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F5DCD9"/>
          </a:solidFill>
          <a:ln w="12700">
            <a:solidFill>
              <a:srgbClr val="F5DC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4381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572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сравнивает параметры внутри категории и отбрасывает кандидатов с противоречиями в данных.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01168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ПРЕДЛОЖЕННЫЕ ЗАМЕНЫ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2331720"/>
            <a:ext cx="6583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38928" y="25694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38928" y="26243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6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990100029_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Easy9 · Schneider Electric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8620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Совпали тип, ток 32 А, полюса, напряжение и кривая 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3630168"/>
            <a:ext cx="6583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38928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39227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6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813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990100038_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NXB-63 · Chint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160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Отключающая способность 6 кА вместо 4,5 кА — выше исходной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4928616"/>
            <a:ext cx="6583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38928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38928" y="52212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6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51114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990100018_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5129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RX3 · Legrand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54589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параметры совпали, в наличии 89 шт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ПОКУПКА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меняется только по согласию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23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8408" y="29260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Предложение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327355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собирает состав, количество и сумму. Корзина не тронута.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148B9D"/>
          </a:solidFill>
          <a:ln w="12700">
            <a:solidFill>
              <a:srgbClr val="148B9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4231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1728" y="29260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Подтверждение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81728" y="327355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нажимает кнопку или пишет «да, добавь». Другой текст не считается.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2440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231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29260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Ссылка на корзину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327355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записи возвращается ссылка на актуальный состав корзины.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" y="4407408"/>
            <a:ext cx="1078992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1005840" y="4645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ПЕРЕПРОВЕРЯЕТСЯ В МОМЕНТ ПОДТВЕРЖДЕНИЯ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02005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5024" y="4983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не изменилась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502005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855464" y="4983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покрывает заказ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020056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75904" y="4983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предложения не истёк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495544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335024" y="5458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совпадает с показанным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5495544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55464" y="5458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корзины та же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5495544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375904" y="5458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не добавляет дважды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СПЕЦИФИКАЦИИ И ЯЗЫКИ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присылает файл — получает подбор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6537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24734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323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Поддерживаемые форматы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5840" y="310896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3200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87168" y="310896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87168" y="3200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68496" y="310896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68496" y="3200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49824" y="310896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9824" y="3200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365760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487168" y="365760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87168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968496" y="3657600"/>
            <a:ext cx="1298448" cy="420624"/>
          </a:xfrm>
          <a:prstGeom prst="roundRect">
            <a:avLst>
              <a:gd name="adj" fmla="val 21739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68496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343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проходит проверку типа, размера и внутренней структуры, затем антивирус и разбор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изолированном процессе. Непрошедший файл остаётся в карантине и в подбор не попадает.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513892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спецификации собирается список позиций, каждая ищется по каталогу. Нераспознанные строки помечаются, а не выдумываются.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543800" y="201168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8FBFE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863840" y="23317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48B9D"/>
          </a:solidFill>
          <a:ln w="12700">
            <a:solidFill>
              <a:srgbClr val="148B9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572" y="2473452"/>
            <a:ext cx="265176" cy="26517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549640" y="24323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языка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7863840" y="3419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язык витрины и чата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7863840" y="3995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</a:t>
            </a:r>
            <a:endParaRPr lang="en-US" sz="1350" dirty="0"/>
          </a:p>
        </p:txBody>
      </p:sp>
      <p:sp>
        <p:nvSpPr>
          <p:cNvPr id="31" name="Text 27"/>
          <p:cNvSpPr txBox="1"/>
          <p:nvPr/>
        </p:nvSpPr>
        <p:spPr>
          <a:xfrm>
            <a:off x="7863840" y="42885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покупки переведены и сверены с источником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7863840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1572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закупщиков, работающих на английском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7863840" y="5596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ответа определяется по сообщению клиента.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505456" cy="32004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23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310128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15.5 · React 19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Серверный proxy без ключей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2011680"/>
            <a:ext cx="2505456" cy="32004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21608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4231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21608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21608" y="3310128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· Uvicorn · HTTPX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worker очереди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08776" y="2011680"/>
            <a:ext cx="2505456" cy="32004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3096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4231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83096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83096" y="3310128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 с pg_trgm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для сессий и демо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из API ekt.kz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2011680"/>
            <a:ext cx="2505456" cy="32004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44584" y="22860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42316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и файлы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44584" y="3310128"/>
            <a:ext cx="2048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Responses API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JSON-план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· openpyxl · python-docx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85800" y="5440680"/>
            <a:ext cx="10789920" cy="685800"/>
          </a:xfrm>
          <a:prstGeom prst="roundRect">
            <a:avLst>
              <a:gd name="adj" fmla="val 17333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005840" y="561441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Доменная логика отделена от хранилищ и провайдеров контрактами — источник каталога и модель заменяются без переписывания ассистента.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проходит запрос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 чат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клиента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2414016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9120" y="196596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2148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proxy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450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не уходят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браузер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2414016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96596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21040" y="2148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321040" y="2450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Сессии, CSRF,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85800" y="34290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44B87"/>
          </a:solidFill>
          <a:ln w="12700">
            <a:solidFill>
              <a:srgbClr val="144B8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440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задач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Сохранённые ходы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lease и таймаутом</a:t>
            </a:r>
            <a:endParaRPr lang="en-US" sz="10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877056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89120" y="34290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44B87"/>
          </a:solidFill>
          <a:ln w="12700">
            <a:solidFill>
              <a:srgbClr val="144B8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61772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ассистента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3877056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92440" y="34290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44B87"/>
          </a:solidFill>
          <a:ln w="12700">
            <a:solidFill>
              <a:srgbClr val="144B8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32104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ЭКТ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демо-данные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85800" y="48920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1005840" y="5120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пишется из проверенных данных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100584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источника не превращается в выдуманный остаток или успешный заказ.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172200" y="48920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6492240" y="5120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и worker запускаются раздельно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649224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Долгий ответ модели не блокирует витрину и поиск по каталогу.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B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645920" y="2377440"/>
            <a:ext cx="6035040" cy="6035040"/>
          </a:xfrm>
          <a:prstGeom prst="roundRect">
            <a:avLst>
              <a:gd name="adj" fmla="val 909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F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3268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защищает клиента и магазин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83280" cy="1691640"/>
          </a:xfrm>
          <a:prstGeom prst="roundRect">
            <a:avLst>
              <a:gd name="adj" fmla="val 7027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128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443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 покрывает контракты,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корзину, поиск и разбор файлов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3383280" cy="1691640"/>
          </a:xfrm>
          <a:prstGeom prst="roundRect">
            <a:avLst>
              <a:gd name="adj" fmla="val 7027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2128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443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 у модели на изменение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корзины и выдачу цены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2057400"/>
            <a:ext cx="3383280" cy="1691640"/>
          </a:xfrm>
          <a:prstGeom prst="roundRect">
            <a:avLst>
              <a:gd name="adj" fmla="val 7027"/>
            </a:avLst>
          </a:prstGeom>
          <a:solidFill>
            <a:srgbClr val="0E3A6B"/>
          </a:solidFill>
          <a:ln w="12700">
            <a:solidFill>
              <a:srgbClr val="2E5D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22128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9443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уровня проверки файла: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формат, антивирус, изоляция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4174236"/>
            <a:ext cx="192024" cy="1920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34440" y="412394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в httpOnly-cookie, каждое действие защищено CSRF-токеном и проверкой источника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464515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4750308"/>
            <a:ext cx="192024" cy="19202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34440" y="470001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Диалоги, вложения и корзина видны только своей сессии — чужой идентификатор ничего не открывает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85800" y="522122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326380"/>
            <a:ext cx="192024" cy="19202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34440" y="5276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отправка не добавляет товар дважды: у каждой операции свой ключ идемпотентности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5800" y="5797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66CB6"/>
          </a:solidFill>
          <a:ln w="12700">
            <a:solidFill>
              <a:srgbClr val="266CB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5902452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585216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Платёжные данные отклоняются на входе и не сохраняются ни в переписке, ни в файлах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готово и что дальше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8FBFE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48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СЕЙЧАС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88336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2651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Витрина, поиск, фильтры и карточки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63824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35024" y="3127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с историей в пределах сессии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393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35024" y="3602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 с обоснованием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1480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35024" y="4078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покупки на трёх языках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90288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35024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и подтверждение корзины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065776"/>
            <a:ext cx="219456" cy="21945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335024" y="5029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вложений и поиск по спецификации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6172200" y="20116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228600" dist="63500" dir="5400000">
              <a:srgbClr val="1C4975">
                <a:alpha val="10000"/>
              </a:srgbClr>
            </a:outerShdw>
          </a:effectLst>
        </p:spPr>
      </p:sp>
      <p:sp>
        <p:nvSpPr>
          <p:cNvPr id="19" name="Text 11"/>
          <p:cNvSpPr txBox="1"/>
          <p:nvPr/>
        </p:nvSpPr>
        <p:spPr>
          <a:xfrm>
            <a:off x="6492240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49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697480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821424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корзиной ekt.kz</a:t>
            </a:r>
            <a:endParaRPr lang="en-US" sz="1250" dirty="0"/>
          </a:p>
        </p:txBody>
      </p:sp>
      <p:sp>
        <p:nvSpPr>
          <p:cNvPr id="22" name="Text 13"/>
          <p:cNvSpPr txBox="1"/>
          <p:nvPr/>
        </p:nvSpPr>
        <p:spPr>
          <a:xfrm>
            <a:off x="6821424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пока не предоставил API корзины</a:t>
            </a:r>
            <a:endParaRPr lang="en-US" sz="10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44728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821424" y="3401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диалога менеджеру</a:t>
            </a:r>
            <a:endParaRPr lang="en-US" sz="1250" dirty="0"/>
          </a:p>
        </p:txBody>
      </p:sp>
      <p:sp>
        <p:nvSpPr>
          <p:cNvPr id="25" name="Text 15"/>
          <p:cNvSpPr txBox="1"/>
          <p:nvPr/>
        </p:nvSpPr>
        <p:spPr>
          <a:xfrm>
            <a:off x="6821424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Эскалация сложного подбора с контекстом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197096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821424" y="41513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Сопутствующие товары</a:t>
            </a:r>
            <a:endParaRPr lang="en-US" sz="1250" dirty="0"/>
          </a:p>
        </p:txBody>
      </p:sp>
      <p:sp>
        <p:nvSpPr>
          <p:cNvPr id="28" name="Text 17"/>
          <p:cNvSpPr txBox="1"/>
          <p:nvPr/>
        </p:nvSpPr>
        <p:spPr>
          <a:xfrm>
            <a:off x="6821424" y="4425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к выбранной позиции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946904"/>
            <a:ext cx="219456" cy="219456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821424" y="4901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очереди в общее хранилище</a:t>
            </a:r>
            <a:endParaRPr lang="en-US" sz="1250" dirty="0"/>
          </a:p>
        </p:txBody>
      </p:sp>
      <p:sp>
        <p:nvSpPr>
          <p:cNvPr id="31" name="Text 19"/>
          <p:cNvSpPr txBox="1"/>
          <p:nvPr/>
        </p:nvSpPr>
        <p:spPr>
          <a:xfrm>
            <a:off x="6821424" y="51755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горизонтального масштабирования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ТОО «Электрокомплект»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ЭКТ — каталог и ИИ-ассистент</dc:title>
  <dc:subject>Прототип ИИ-ассистента для ekt.kz</dc:subject>
  <dc:creator>Hahathon Devs</dc:creator>
  <cp:lastModifiedBy>Hahathon Devs</cp:lastModifiedBy>
  <cp:revision>1</cp:revision>
  <dcterms:created xsi:type="dcterms:W3CDTF">2026-09-23T12:33:27Z</dcterms:created>
  <dcterms:modified xsi:type="dcterms:W3CDTF">2026-09-23T12:33:27Z</dcterms:modified>
</cp:coreProperties>
</file>